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33" autoAdjust="0"/>
  </p:normalViewPr>
  <p:slideViewPr>
    <p:cSldViewPr snapToGrid="0" snapToObjects="1">
      <p:cViewPr>
        <p:scale>
          <a:sx n="20" d="100"/>
          <a:sy n="20" d="100"/>
        </p:scale>
        <p:origin x="138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02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8" Type="http://schemas.openxmlformats.org/officeDocument/2006/relationships/image" Target="../media/image8.png"/><Relationship Id="rId21" Type="http://schemas.openxmlformats.org/officeDocument/2006/relationships/image" Target="../media/image12.png"/><Relationship Id="rId7" Type="http://schemas.openxmlformats.org/officeDocument/2006/relationships/image" Target="../media/image3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5" Type="http://schemas.openxmlformats.org/officeDocument/2006/relationships/image" Target="../media/image5.png"/><Relationship Id="rId19" Type="http://schemas.openxmlformats.org/officeDocument/2006/relationships/image" Target="../media/image9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3068240" cy="3154680"/>
          </a:xfrm>
          <a:prstGeom prst="rect">
            <a:avLst/>
          </a:prstGeom>
          <a:solidFill>
            <a:srgbClr val="DCE6F2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>
            <a:off x="777240" y="822960"/>
            <a:ext cx="2582648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422320" y="822960"/>
            <a:ext cx="132588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422320" y="1417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50461" y="511958"/>
            <a:ext cx="327902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zh-CN" sz="7200" b="1" dirty="0"/>
              <a:t>A Numerical Accuracy Comparison of Three QR Decomposition Algorithms</a:t>
            </a:r>
            <a:endParaRPr lang="en-US" sz="7200" b="1" dirty="0"/>
          </a:p>
        </p:txBody>
      </p:sp>
      <p:sp>
        <p:nvSpPr>
          <p:cNvPr id="8" name="Text 6"/>
          <p:cNvSpPr/>
          <p:nvPr/>
        </p:nvSpPr>
        <p:spPr>
          <a:xfrm>
            <a:off x="3541705" y="2050226"/>
            <a:ext cx="37447870" cy="1168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CN" altLang="zh-CN" sz="4000" dirty="0"/>
              <a:t>Junxiang Huang, School of Data Science,</a:t>
            </a:r>
            <a:r>
              <a:rPr lang="en-US" altLang="zh-CN" sz="4000" dirty="0"/>
              <a:t> </a:t>
            </a:r>
            <a:r>
              <a:rPr lang="zh-CN" altLang="zh-CN" sz="4000" dirty="0"/>
              <a:t>The Chinese University of Hong Kong, Shenzhen, Shenzhen, Guangdong, China, huangjohnson1020@outlook.com</a:t>
            </a:r>
            <a:endParaRPr lang="en-US" altLang="zh-CN" sz="4000" dirty="0"/>
          </a:p>
          <a:p>
            <a:pPr algn="ctr"/>
            <a:r>
              <a:rPr lang="zh-CN" altLang="zh-CN" sz="4000" dirty="0"/>
              <a:t>Chao Chen, Department of Mathematics, North Carolina State University, Raleigh, NC, USA, cchen49@ncsu.edu</a:t>
            </a:r>
            <a:endParaRPr lang="en-US" altLang="zh-CN" sz="4000" dirty="0"/>
          </a:p>
          <a:p>
            <a:pPr algn="ctr"/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822960" y="4216181"/>
            <a:ext cx="10064780" cy="19291039"/>
          </a:xfrm>
          <a:prstGeom prst="rect">
            <a:avLst/>
          </a:prstGeom>
          <a:solidFill>
            <a:srgbClr val="F3F7FB"/>
          </a:solidFill>
          <a:ln w="12700">
            <a:solidFill>
              <a:srgbClr val="8DA1B8"/>
            </a:solidFill>
            <a:prstDash val="solid"/>
          </a:ln>
        </p:spPr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064780" cy="777240"/>
          </a:xfrm>
          <a:prstGeom prst="rect">
            <a:avLst/>
          </a:prstGeom>
          <a:solidFill>
            <a:srgbClr val="154C82"/>
          </a:solidFill>
          <a:ln w="12700">
            <a:solidFill>
              <a:srgbClr val="154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0064780" cy="77723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Background &amp; Objective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11461453" y="4171980"/>
            <a:ext cx="15035500" cy="19335240"/>
          </a:xfrm>
          <a:prstGeom prst="rect">
            <a:avLst/>
          </a:prstGeom>
          <a:solidFill>
            <a:srgbClr val="F3F7FB"/>
          </a:solidFill>
          <a:ln w="1270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1482100" y="4160520"/>
            <a:ext cx="15035500" cy="822960"/>
          </a:xfrm>
          <a:prstGeom prst="rect">
            <a:avLst/>
          </a:prstGeom>
          <a:solidFill>
            <a:srgbClr val="154C82"/>
          </a:solidFill>
          <a:ln w="12700">
            <a:solidFill>
              <a:srgbClr val="154C8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Text 12"/>
          <p:cNvSpPr/>
          <p:nvPr/>
        </p:nvSpPr>
        <p:spPr>
          <a:xfrm>
            <a:off x="11482100" y="4206240"/>
            <a:ext cx="15035500" cy="77723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Methods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27119219" y="4172118"/>
            <a:ext cx="15957082" cy="19335102"/>
          </a:xfrm>
          <a:prstGeom prst="rect">
            <a:avLst/>
          </a:prstGeom>
          <a:solidFill>
            <a:srgbClr val="F3F7FB"/>
          </a:solidFill>
          <a:ln w="1270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Shape 14"/>
          <p:cNvSpPr/>
          <p:nvPr/>
        </p:nvSpPr>
        <p:spPr>
          <a:xfrm>
            <a:off x="27111158" y="4160520"/>
            <a:ext cx="15957082" cy="822960"/>
          </a:xfrm>
          <a:prstGeom prst="rect">
            <a:avLst/>
          </a:prstGeom>
          <a:solidFill>
            <a:srgbClr val="154C82"/>
          </a:solidFill>
          <a:ln w="12700">
            <a:solidFill>
              <a:srgbClr val="154C8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Text 15"/>
          <p:cNvSpPr/>
          <p:nvPr/>
        </p:nvSpPr>
        <p:spPr>
          <a:xfrm>
            <a:off x="27098572" y="4179561"/>
            <a:ext cx="15969668" cy="80391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Results</a:t>
            </a:r>
            <a:endParaRPr lang="en-US" sz="5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1234440" y="5166359"/>
                <a:ext cx="9355588" cy="6319301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t">
                <a:noAutofit/>
              </a:bodyPr>
              <a:lstStyle/>
              <a:p>
                <a:r>
                  <a:rPr lang="en-US" sz="3200" dirty="0">
                    <a:solidFill>
                      <a:srgbClr val="11182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QR decomposition factors a matrix A into: </a:t>
                </a:r>
                <a:r>
                  <a:rPr lang="en-US" sz="3200" b="1" dirty="0">
                    <a:solidFill>
                      <a:srgbClr val="11182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= QR</a:t>
                </a:r>
                <a:r>
                  <a:rPr lang="en-US" sz="3200" dirty="0">
                    <a:solidFill>
                      <a:srgbClr val="11182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</a:t>
                </a:r>
              </a:p>
              <a:p>
                <a:r>
                  <a:rPr lang="en-US" sz="3200" dirty="0">
                    <a:solidFill>
                      <a:srgbClr val="11182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Q is an orthogonal matrix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3200" b="1" i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𝐐</m:t>
                        </m:r>
                      </m:e>
                      <m:sup>
                        <m:r>
                          <a:rPr lang="en-US" sz="3200" b="1" i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𝐓</m:t>
                        </m:r>
                      </m:sup>
                    </m:sSup>
                    <m:r>
                      <a:rPr lang="en-US" sz="3200" b="1" i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𝐐</m:t>
                    </m:r>
                    <m:r>
                      <a:rPr lang="en-US" sz="3200" b="1" i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3200" b="1" i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𝐈</m:t>
                    </m:r>
                  </m:oMath>
                </a14:m>
                <a:r>
                  <a:rPr lang="en-US" sz="3200" dirty="0">
                    <a:solidFill>
                      <a:srgbClr val="11182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and R is an upper triangular matrix.</a:t>
                </a:r>
              </a:p>
              <a:p>
                <a:endParaRPr lang="en-US" sz="3200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r>
                  <a:rPr lang="zh-CN" altLang="zh-CN" sz="3200" dirty="0"/>
                  <a:t>It is a fundamental tool in numerical linear algebra and is widely used in least squares problems, eigenvalue computation, and many scientific computing applications.</a:t>
                </a:r>
                <a:endParaRPr lang="en-US" altLang="zh-CN" sz="3200" dirty="0"/>
              </a:p>
              <a:p>
                <a:endParaRPr lang="en-US" sz="3200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r>
                  <a:rPr lang="zh-CN" altLang="zh-CN" sz="3200" dirty="0"/>
                  <a:t>However, ill-conditioned matrices can amplify numerical errors and reduce computational reliability. Therefore, selecting numerically stable QR algorithms is important.</a:t>
                </a:r>
                <a:endParaRPr lang="en-US" sz="2400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" y="5166359"/>
                <a:ext cx="9355588" cy="6319301"/>
              </a:xfrm>
              <a:prstGeom prst="rect">
                <a:avLst/>
              </a:prstGeom>
              <a:blipFill>
                <a:blip r:embed="rId5"/>
                <a:stretch>
                  <a:fillRect l="-2673" t="-1929" b="-43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/>
          <p:nvPr/>
        </p:nvSpPr>
        <p:spPr>
          <a:xfrm>
            <a:off x="1254870" y="16258702"/>
            <a:ext cx="9220858" cy="66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 &amp; Expected Outcome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1088079" y="17270122"/>
            <a:ext cx="9480650" cy="5753751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48740" y="17417152"/>
            <a:ext cx="9126988" cy="5444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zh-CN" altLang="zh-CN" sz="3200" dirty="0"/>
              <a:t>How do different QR decomposition algorithms influence the numerical stability of QR factorization for ill-conditioned matrices?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zh-CN" sz="3200" dirty="0"/>
              <a:t>We compare CGS, MGS, and Householder QR based on orthogonality preservation and reconstruction accuracy under different matrix conditions</a:t>
            </a:r>
            <a:r>
              <a:rPr lang="en-US" altLang="zh-CN" sz="3200" dirty="0"/>
              <a:t>. </a:t>
            </a:r>
            <a:r>
              <a:rPr lang="en-US" sz="3200" dirty="0"/>
              <a:t>We expect MGS and Householder QR to preserve orthogonality better than CGS for ill-conditioned matrices. Reconstruction error is expected to remain small for all three algorithms.</a:t>
            </a:r>
          </a:p>
        </p:txBody>
      </p:sp>
      <p:sp>
        <p:nvSpPr>
          <p:cNvPr id="25" name="Text 23"/>
          <p:cNvSpPr/>
          <p:nvPr/>
        </p:nvSpPr>
        <p:spPr>
          <a:xfrm>
            <a:off x="12963765" y="5237599"/>
            <a:ext cx="4858016" cy="49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Compared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20461484" y="5168447"/>
            <a:ext cx="5167964" cy="496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Workflow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20885880" y="16618081"/>
            <a:ext cx="4242922" cy="52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3600" dirty="0"/>
          </a:p>
        </p:txBody>
      </p:sp>
      <p:sp>
        <p:nvSpPr>
          <p:cNvPr id="53" name="Shape 51"/>
          <p:cNvSpPr/>
          <p:nvPr/>
        </p:nvSpPr>
        <p:spPr>
          <a:xfrm>
            <a:off x="19405312" y="17406234"/>
            <a:ext cx="6963471" cy="5922483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9536739" y="17645735"/>
            <a:ext cx="6517106" cy="561407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Orthogonality Error: </a:t>
            </a: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||QᵀQ − I||</a:t>
            </a:r>
          </a:p>
          <a:p>
            <a:pPr marL="0" indent="0" algn="l">
              <a:buNone/>
            </a:pPr>
            <a:endParaRPr lang="en-US" sz="160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600" dirty="0"/>
              <a:t>      Measures how close Q is to an orthogonal matrix.</a:t>
            </a:r>
          </a:p>
          <a:p>
            <a:r>
              <a:rPr lang="en-US" sz="2600" dirty="0"/>
              <a:t>      Smaller values indicate better numerical stability.</a:t>
            </a:r>
          </a:p>
          <a:p>
            <a:endParaRPr lang="en-US" sz="2000" dirty="0"/>
          </a:p>
          <a:p>
            <a:pPr marL="0" indent="0" algn="l">
              <a:buNone/>
            </a:pPr>
            <a:r>
              <a:rPr lang="en-US" sz="3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Error: </a:t>
            </a: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||A − QR||</a:t>
            </a:r>
          </a:p>
          <a:p>
            <a:pPr marL="0" indent="0" algn="l">
              <a:buNone/>
            </a:pPr>
            <a:endParaRPr lang="en-US" sz="160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600" dirty="0"/>
              <a:t>      Measures how accurately QR reconstructs the original matrix A.</a:t>
            </a:r>
          </a:p>
          <a:p>
            <a:r>
              <a:rPr lang="en-US" sz="2600" dirty="0"/>
              <a:t>      Smaller values indicate better accuracy.</a:t>
            </a:r>
          </a:p>
          <a:p>
            <a:endParaRPr lang="en-US" sz="3500" dirty="0"/>
          </a:p>
          <a:p>
            <a:pPr marL="0" indent="0" algn="l">
              <a:buNone/>
            </a:pPr>
            <a:r>
              <a:rPr lang="en-US" sz="3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accuracy and numerical stability</a:t>
            </a:r>
            <a:endParaRPr lang="en-US" sz="3200" dirty="0"/>
          </a:p>
        </p:txBody>
      </p:sp>
      <p:sp>
        <p:nvSpPr>
          <p:cNvPr id="64" name="Shape 62"/>
          <p:cNvSpPr/>
          <p:nvPr/>
        </p:nvSpPr>
        <p:spPr>
          <a:xfrm>
            <a:off x="822960" y="24016583"/>
            <a:ext cx="42245280" cy="5876639"/>
          </a:xfrm>
          <a:prstGeom prst="rect">
            <a:avLst/>
          </a:prstGeom>
          <a:solidFill>
            <a:srgbClr val="F3F7FB"/>
          </a:solidFill>
          <a:ln w="1270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51668" y="24045759"/>
            <a:ext cx="42245280" cy="822960"/>
          </a:xfrm>
          <a:prstGeom prst="rect">
            <a:avLst/>
          </a:prstGeom>
          <a:solidFill>
            <a:srgbClr val="154C82"/>
          </a:solidFill>
          <a:ln w="12700">
            <a:solidFill>
              <a:srgbClr val="154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943059" y="24068619"/>
            <a:ext cx="422452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Conclusion</a:t>
            </a:r>
            <a:endParaRPr lang="en-US" sz="5200" dirty="0"/>
          </a:p>
        </p:txBody>
      </p:sp>
      <p:sp>
        <p:nvSpPr>
          <p:cNvPr id="67" name="Shape 65"/>
          <p:cNvSpPr/>
          <p:nvPr/>
        </p:nvSpPr>
        <p:spPr>
          <a:xfrm>
            <a:off x="1417320" y="25189654"/>
            <a:ext cx="13121640" cy="4343400"/>
          </a:xfrm>
          <a:prstGeom prst="rect">
            <a:avLst/>
          </a:prstGeom>
          <a:solidFill>
            <a:srgbClr val="EAF1F8"/>
          </a:solidFill>
          <a:ln w="8890">
            <a:solidFill>
              <a:srgbClr val="154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657084" y="25651486"/>
            <a:ext cx="1252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Takeaway</a:t>
            </a:r>
            <a:endParaRPr lang="en-US" sz="3600" dirty="0"/>
          </a:p>
        </p:txBody>
      </p:sp>
      <p:sp>
        <p:nvSpPr>
          <p:cNvPr id="69" name="Text 67"/>
          <p:cNvSpPr/>
          <p:nvPr/>
        </p:nvSpPr>
        <p:spPr>
          <a:xfrm>
            <a:off x="2068564" y="26030175"/>
            <a:ext cx="11704320" cy="34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zh-CN" sz="3200" dirty="0"/>
              <a:t>Reliable QR factorization is important because loss of numerical stability can affect the accuracy of downstream scientific computations.</a:t>
            </a:r>
            <a:r>
              <a:rPr lang="en-US" altLang="zh-CN" sz="3200" dirty="0"/>
              <a:t> </a:t>
            </a:r>
            <a:r>
              <a:rPr lang="zh-CN" altLang="zh-CN" sz="3200" dirty="0"/>
              <a:t>Householder QR provides the strongest numerical stability among the tested methods</a:t>
            </a:r>
            <a:r>
              <a:rPr lang="en-US" altLang="zh-CN" sz="3200" dirty="0"/>
              <a:t> (</a:t>
            </a:r>
            <a:r>
              <a:rPr lang="zh-CN" altLang="zh-CN" sz="3200" dirty="0"/>
              <a:t>with higher computational cost</a:t>
            </a:r>
            <a:r>
              <a:rPr lang="en-US" altLang="zh-CN" sz="3200" dirty="0"/>
              <a:t>).</a:t>
            </a:r>
            <a:r>
              <a:rPr lang="zh-CN" altLang="zh-CN" sz="3200" dirty="0"/>
              <a:t> MGS offers a balance between stability and efficiency, while CGS remains less stable for ill-conditioned matrices.</a:t>
            </a:r>
            <a:endParaRPr lang="en-US" sz="3200" dirty="0">
              <a:latin typeface="+mj-lt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5133320" y="25224061"/>
            <a:ext cx="2738628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1" name="Text 69"/>
          <p:cNvSpPr/>
          <p:nvPr/>
        </p:nvSpPr>
        <p:spPr>
          <a:xfrm>
            <a:off x="15613380" y="25829881"/>
            <a:ext cx="26426160" cy="356419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Orthogonality error increases as matrices become more ill-conditioned, especially for CGS.</a:t>
            </a:r>
          </a:p>
          <a:p>
            <a:endParaRPr lang="en-US" sz="320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MGS maintains better orthogonality than CGS by reducing numerical errors.</a:t>
            </a:r>
          </a:p>
          <a:p>
            <a:endParaRPr lang="en-US" sz="320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Householder QR shows the most consistent stability across different condition numbers.</a:t>
            </a:r>
          </a:p>
          <a:p>
            <a:endParaRPr lang="en-US" sz="320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Reconstruction errors remain very small for all three methods, indicating accurate QR factorization.</a:t>
            </a:r>
            <a:endParaRPr lang="en-US" sz="3200" dirty="0"/>
          </a:p>
        </p:txBody>
      </p:sp>
      <p:sp>
        <p:nvSpPr>
          <p:cNvPr id="72" name="Shape 70"/>
          <p:cNvSpPr/>
          <p:nvPr/>
        </p:nvSpPr>
        <p:spPr>
          <a:xfrm>
            <a:off x="822960" y="30230401"/>
            <a:ext cx="208940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399143" y="30397021"/>
            <a:ext cx="9144000" cy="62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3600" dirty="0"/>
          </a:p>
        </p:txBody>
      </p:sp>
      <p:sp>
        <p:nvSpPr>
          <p:cNvPr id="74" name="Text 72"/>
          <p:cNvSpPr/>
          <p:nvPr/>
        </p:nvSpPr>
        <p:spPr>
          <a:xfrm>
            <a:off x="1399143" y="31089600"/>
            <a:ext cx="120726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3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like to thank Prof. Chao Chen for his guidance and the GEARS Summer Research Program for supporting this project.</a:t>
            </a:r>
            <a:endParaRPr lang="en-US" sz="3200" dirty="0"/>
          </a:p>
        </p:txBody>
      </p:sp>
      <p:sp>
        <p:nvSpPr>
          <p:cNvPr id="75" name="Shape 73"/>
          <p:cNvSpPr/>
          <p:nvPr/>
        </p:nvSpPr>
        <p:spPr>
          <a:xfrm>
            <a:off x="22273701" y="30239970"/>
            <a:ext cx="208026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6" name="Text 74"/>
          <p:cNvSpPr/>
          <p:nvPr/>
        </p:nvSpPr>
        <p:spPr>
          <a:xfrm>
            <a:off x="22784570" y="30422752"/>
            <a:ext cx="9144000" cy="666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22740844" y="31082157"/>
            <a:ext cx="19933920" cy="1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3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Golub, G. H., &amp; Van Loan, C. F. Matrix Computations (4th ed.). Johns Hopkins University Press, 2013.</a:t>
            </a:r>
          </a:p>
          <a:p>
            <a:r>
              <a:rPr lang="it-IT" sz="3200" dirty="0"/>
              <a:t>2. Trefethen, L. N., &amp; Bau, D. Numerical Linear Algebra. SIAM, 1997.</a:t>
            </a:r>
            <a:endParaRPr lang="en-US" sz="3200" dirty="0"/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1950C10E-9DFD-6B15-296B-2938D2D84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763631"/>
            <a:ext cx="2582648" cy="2582648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0DA0E756-4419-5429-F871-3F09B9C02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45021" y="822960"/>
            <a:ext cx="2343318" cy="2343318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50F76EC2-B732-2160-A64E-0752EF6035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979" y="11829955"/>
            <a:ext cx="9952742" cy="4266713"/>
          </a:xfrm>
          <a:prstGeom prst="rect">
            <a:avLst/>
          </a:prstGeom>
        </p:spPr>
      </p:pic>
      <p:sp>
        <p:nvSpPr>
          <p:cNvPr id="115" name="文本框 114">
            <a:extLst>
              <a:ext uri="{FF2B5EF4-FFF2-40B4-BE49-F238E27FC236}">
                <a16:creationId xmlns:a16="http://schemas.microsoft.com/office/drawing/2014/main" id="{BE2F630B-8A1B-3A32-3D19-697271613671}"/>
              </a:ext>
            </a:extLst>
          </p:cNvPr>
          <p:cNvSpPr txBox="1"/>
          <p:nvPr/>
        </p:nvSpPr>
        <p:spPr>
          <a:xfrm>
            <a:off x="40222009" y="5976460"/>
            <a:ext cx="296632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Orthogonality error increases as matrices</a:t>
            </a:r>
          </a:p>
          <a:p>
            <a:r>
              <a:rPr lang="en-US" altLang="zh-CN" sz="3200" dirty="0"/>
              <a:t>become more ill-conditioned.</a:t>
            </a:r>
          </a:p>
          <a:p>
            <a:endParaRPr lang="en-US" altLang="zh-CN" sz="3200" dirty="0"/>
          </a:p>
          <a:p>
            <a:r>
              <a:rPr lang="en-US" altLang="zh-CN" sz="3200" dirty="0"/>
              <a:t>MGS and Householder maintain better</a:t>
            </a:r>
          </a:p>
          <a:p>
            <a:r>
              <a:rPr lang="en-US" altLang="zh-CN" sz="3200" dirty="0"/>
              <a:t>orthogonality than CGS.</a:t>
            </a:r>
            <a:endParaRPr lang="zh-CN" altLang="en-US" sz="3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7171F0B-B126-1DC6-D527-316C2D0A82D8}"/>
              </a:ext>
            </a:extLst>
          </p:cNvPr>
          <p:cNvSpPr txBox="1"/>
          <p:nvPr/>
        </p:nvSpPr>
        <p:spPr>
          <a:xfrm>
            <a:off x="38452738" y="15877423"/>
            <a:ext cx="467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All three algorithms achieve very small reconstruction errors, indicating accurate factorization.</a:t>
            </a:r>
            <a:endParaRPr lang="zh-CN" altLang="en-US" sz="3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38612-CFFD-F6BF-AE07-33A9ED2A6256}"/>
              </a:ext>
            </a:extLst>
          </p:cNvPr>
          <p:cNvSpPr txBox="1"/>
          <p:nvPr/>
        </p:nvSpPr>
        <p:spPr>
          <a:xfrm>
            <a:off x="38457428" y="12558415"/>
            <a:ext cx="47915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*</a:t>
            </a:r>
            <a:r>
              <a:rPr lang="zh-CN" altLang="zh-CN" sz="2800" dirty="0"/>
              <a:t>Condition number measures how sensitive a matrix is to numerical errors.</a:t>
            </a:r>
            <a:br>
              <a:rPr lang="zh-CN" altLang="zh-CN" sz="2800" dirty="0"/>
            </a:br>
            <a:r>
              <a:rPr lang="zh-CN" altLang="zh-CN" sz="2800" dirty="0"/>
              <a:t>A larger condition number indicates a more ill-conditioned matrix and greater numerical instability.</a:t>
            </a:r>
            <a:endParaRPr lang="zh-CN" altLang="en-US" sz="2800" dirty="0"/>
          </a:p>
        </p:txBody>
      </p:sp>
      <p:sp>
        <p:nvSpPr>
          <p:cNvPr id="20" name="Text 33">
            <a:extLst>
              <a:ext uri="{FF2B5EF4-FFF2-40B4-BE49-F238E27FC236}">
                <a16:creationId xmlns:a16="http://schemas.microsoft.com/office/drawing/2014/main" id="{26C51726-CF56-5AB2-1E9A-A9F4C89D2B4C}"/>
              </a:ext>
            </a:extLst>
          </p:cNvPr>
          <p:cNvSpPr/>
          <p:nvPr/>
        </p:nvSpPr>
        <p:spPr>
          <a:xfrm>
            <a:off x="20885880" y="13525880"/>
            <a:ext cx="5167964" cy="496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3600" dirty="0"/>
          </a:p>
        </p:txBody>
      </p:sp>
      <p:sp>
        <p:nvSpPr>
          <p:cNvPr id="28" name="Shape 51">
            <a:extLst>
              <a:ext uri="{FF2B5EF4-FFF2-40B4-BE49-F238E27FC236}">
                <a16:creationId xmlns:a16="http://schemas.microsoft.com/office/drawing/2014/main" id="{78C44A53-FC04-C617-39FD-5159E02006F2}"/>
              </a:ext>
            </a:extLst>
          </p:cNvPr>
          <p:cNvSpPr/>
          <p:nvPr/>
        </p:nvSpPr>
        <p:spPr>
          <a:xfrm>
            <a:off x="19383044" y="14270284"/>
            <a:ext cx="6963471" cy="2184605"/>
          </a:xfrm>
          <a:prstGeom prst="rect">
            <a:avLst/>
          </a:prstGeom>
          <a:solidFill>
            <a:srgbClr val="FFFFFF"/>
          </a:solidFill>
          <a:ln w="10160">
            <a:solidFill>
              <a:srgbClr val="8D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2">
                <a:extLst>
                  <a:ext uri="{FF2B5EF4-FFF2-40B4-BE49-F238E27FC236}">
                    <a16:creationId xmlns:a16="http://schemas.microsoft.com/office/drawing/2014/main" id="{CAC92BD3-6C48-D5E8-9C2B-A2D6CE9F1A99}"/>
                  </a:ext>
                </a:extLst>
              </p:cNvPr>
              <p:cNvSpPr/>
              <p:nvPr/>
            </p:nvSpPr>
            <p:spPr>
              <a:xfrm>
                <a:off x="19536738" y="14417738"/>
                <a:ext cx="6743542" cy="2142273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t">
                <a:noAutofit/>
              </a:bodyPr>
              <a:lstStyle/>
              <a:p>
                <a:r>
                  <a:rPr lang="zh-CN" altLang="zh-CN" sz="3200" dirty="0"/>
                  <a:t>100×50 matrices,</a:t>
                </a:r>
                <a:endParaRPr lang="en-US" altLang="zh-CN" sz="3200" dirty="0"/>
              </a:p>
              <a:p>
                <a:r>
                  <a:rPr lang="zh-CN" altLang="zh-CN" sz="3200" dirty="0"/>
                  <a:t>condition numbers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sz="3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3200" b="0" dirty="0">
                  <a:latin typeface="+mn-ea"/>
                </a:endParaRPr>
              </a:p>
              <a:p>
                <a:r>
                  <a:rPr lang="zh-CN" altLang="zh-CN" sz="3200" dirty="0"/>
                  <a:t>20 trials per condition</a:t>
                </a:r>
                <a:r>
                  <a:rPr lang="en-US" altLang="zh-CN" sz="3200" dirty="0"/>
                  <a:t>,</a:t>
                </a:r>
              </a:p>
              <a:p>
                <a:r>
                  <a:rPr lang="zh-CN" altLang="zh-CN" sz="3200" dirty="0"/>
                  <a:t>and average errors reported.</a:t>
                </a:r>
                <a:endParaRPr lang="en-US" sz="3200" dirty="0"/>
              </a:p>
            </p:txBody>
          </p:sp>
        </mc:Choice>
        <mc:Fallback xmlns="">
          <p:sp>
            <p:nvSpPr>
              <p:cNvPr id="26" name="Text 22">
                <a:extLst>
                  <a:ext uri="{FF2B5EF4-FFF2-40B4-BE49-F238E27FC236}">
                    <a16:creationId xmlns:a16="http://schemas.microsoft.com/office/drawing/2014/main" id="{CAC92BD3-6C48-D5E8-9C2B-A2D6CE9F1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6738" y="14417738"/>
                <a:ext cx="6743542" cy="2142273"/>
              </a:xfrm>
              <a:prstGeom prst="rect">
                <a:avLst/>
              </a:prstGeom>
              <a:blipFill>
                <a:blip r:embed="rId14"/>
                <a:stretch>
                  <a:fillRect l="-3617" t="-6250" b="-312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>
            <a:extLst>
              <a:ext uri="{FF2B5EF4-FFF2-40B4-BE49-F238E27FC236}">
                <a16:creationId xmlns:a16="http://schemas.microsoft.com/office/drawing/2014/main" id="{C2143397-2E28-9EA4-C483-22EBA192AC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437081" y="5723511"/>
            <a:ext cx="6862634" cy="762386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6D2FED5-A70C-58C2-C7DB-FDF8C9C2CAE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99103" y="5952881"/>
            <a:ext cx="7571176" cy="5678382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7F8E7DD-5901-20CB-C61A-FDDA9636DF8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99103" y="11819319"/>
            <a:ext cx="7571175" cy="567838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89206C0D-102A-3B4A-801B-1337E15A09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99103" y="17645735"/>
            <a:ext cx="7571175" cy="5678381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BD3B043-C4AA-6A3B-35C8-B5994FE1636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291926" y="5138669"/>
            <a:ext cx="12818046" cy="736885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03FCD5D-41BA-A27C-26A2-05FA7851CD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291926" y="12706695"/>
            <a:ext cx="11048813" cy="583865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FBFCB2A1-EC6A-C8B2-BE9A-E05D7CB5028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291926" y="18760382"/>
            <a:ext cx="15636748" cy="4563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10976</TotalTime>
  <Words>1677</Words>
  <Application>Microsoft Office PowerPoint</Application>
  <PresentationFormat>自定义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Cambria Math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Algorithm Poster Template - Accuracy Only</dc:title>
  <dc:subject>QR algorithm accuracy poster template</dc:subject>
  <dc:creator>OpenAI</dc:creator>
  <cp:lastModifiedBy>俊翔 黄</cp:lastModifiedBy>
  <cp:revision>16</cp:revision>
  <dcterms:created xsi:type="dcterms:W3CDTF">2026-07-29T03:53:18Z</dcterms:created>
  <dcterms:modified xsi:type="dcterms:W3CDTF">2026-08-13T16:52:51Z</dcterms:modified>
</cp:coreProperties>
</file>